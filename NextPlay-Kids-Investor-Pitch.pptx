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00E676"/>
            </a:solidFill>
          </c:spPr>
          <c:cat>
            <c:strRef>
              <c:f>Sheet1!$A$2:$A$6</c:f>
              <c:strCache>
                <c:ptCount val="5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6.0</c:v>
                </c:pt>
                <c:pt idx="2">
                  <c:v>18.0</c:v>
                </c:pt>
                <c:pt idx="3">
                  <c:v>42.0</c:v>
                </c:pt>
                <c:pt idx="4">
                  <c:v>85.0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9AA3B5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we are building the trust layer of Indian youth sport. One-liner: safer, more accessible, development-focused sport for ages 2-17.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football-p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0"/>
            <a:ext cx="5470855" cy="448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00E676"/>
                </a:solidFill>
                <a:latin typeface="Segoe UI"/>
              </a:rPr>
              <a:t>NEXTPLAY KIDS  ·  INVESTOR BRIEF  ·  SEPT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5943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F4F8"/>
                </a:solidFill>
                <a:latin typeface="Segoe UI"/>
              </a:rPr>
              <a:t>Every child deserves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00E676"/>
                </a:solidFill>
                <a:latin typeface="Segoe UI"/>
              </a:rPr>
              <a:t>a place to play.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10128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50" b="0" i="0">
                <a:solidFill>
                  <a:srgbClr val="9AA3B5"/>
                </a:solidFill>
                <a:latin typeface="Segoe UI"/>
              </a:rPr>
              <a:t>Youth sports commerce, programs and safety — for India's 350 million children, ages 2 to 17.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350M+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children in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₹4B+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sports goods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sports on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4617720"/>
            <a:ext cx="25603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39" y="47457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536752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prototype shipped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6B768C"/>
                </a:solidFill>
                <a:latin typeface="Segoe UI"/>
              </a:rPr>
              <a:t>Mahesh Koria · Founder — 19+ years banking &amp; data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Parents have no trusted partner in youth sport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No trust in what they buy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Adult gear sold smaller, no honest age ranges, wrong sizes the norm. A helmet that doesn't fit is not gear — it's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F6A3D"/>
                </a:solidFill>
                <a:latin typeface="Segoe UI"/>
              </a:rPr>
              <a:t>70% quit sport by age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Pressure culture, boring first experiences and badly-fitted kit push children out in their best years.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No child-development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Retailers shrink adult products. Nobody owns: right gear, right age, right challenge.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Schools &amp; academies run manual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Rosters, attendance, parent messaging and equipment live in paper registers and WhatsApp chaos.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The gap is trust — and trust is exactly what we engineered for.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Large, fragmented, and under-served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74320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681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$4B+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sports goods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74320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56816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350M+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7860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children (2–17)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828800"/>
            <a:ext cx="251460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56816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2×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78608"/>
            <a:ext cx="2514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govt. push (Khelo India)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828800"/>
            <a:ext cx="233172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956816"/>
            <a:ext cx="2331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35M+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578608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urban school kids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548640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Five revenue engines, one brand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Gear retail (AOV ₹1.8k–4.5k) · Programs &amp; camps (₹4k–25k/term)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School &amp; academy B2B bundles · SaaS dashboards · Events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Global reference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Decathlon &amp; Dick's sell youth SKUs — nobody owns the full child-development stack in India.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429000"/>
            <a:ext cx="5029200" cy="237744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630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B45A"/>
                </a:solidFill>
                <a:latin typeface="Segoe UI"/>
              </a:rPr>
              <a:t>Why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8736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· Middle-class spend on child development rising double-digit
· NEP mandates physical education — schools must buy, safely
· UPI + D2C rails make trust-commerce viable in tier-1/2 cities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Trust by design — not a tagline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Safety-first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Honest age range + safety certification badge on 100% of catalogue. Size-true charts, fit guides with paediatric physios, free exchanges.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Sports Explorer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Interactive quiz (age, interests, budget, accessibility) → matched sport + starter bundle. Acquisition engine disguised as a service.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Parent &amp; Coach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Progress tracking behind parental-consent controls. Parents are account holders — child data is ours to protect, not to exploit.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00E676"/>
                </a:solidFill>
                <a:latin typeface="Segoe UI"/>
              </a:rPr>
              <a:t>Live prototype — shipped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16 pages, 45 products, working cart &amp; quiz. Live now: maheshkoriacourse.github.io/nextplay-kids — proof, not promises.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FF6A3D"/>
                </a:solidFill>
                <a:latin typeface="Segoe UI"/>
              </a:rPr>
              <a:t>Demo available live during Q&amp;A — real filters, real cart, real dashboards.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WHY WE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Four compounding 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E67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1226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Trust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587752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Safety certification + fit-first commerce. Parents never leave a brand that prevented a mistake.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756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6A3D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11226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The age ladder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587752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A child entering at 4 grows with us to 17 — 13 years of gear, programs, camps. Retail's highest-LTV 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00E676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970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Inclusive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672584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Adaptive sport woven through every category. Real segment, near-zero competition.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16052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6A3D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970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2F4F8"/>
                </a:solidFill>
                <a:latin typeface="Segoe UI"/>
              </a:rPr>
              <a:t>Founder-market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72584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19+ years BFSI ops &amp; data leadership + AI architecture — banker's discipline, builder's speed.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Gear acquires. Programs retain. SaaS compounds.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6B768C"/>
                </a:solidFill>
                <a:latin typeface="Segoe UI"/>
              </a:rPr>
              <a:t>STREAM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6B768C"/>
                </a:solidFill>
                <a:latin typeface="Segoe UI"/>
              </a:rPr>
              <a:t>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6B768C"/>
                </a:solidFill>
                <a:latin typeface="Segoe UI"/>
              </a:rPr>
              <a:t>ROLE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12848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22576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Gear e-commerce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22576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30–45%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322576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Acquisition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79776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0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9504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Programs &amp; camps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889504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₹4k–25k / 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88950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Retention engine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46704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5643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School &amp; academy B2B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45643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₹50k–5L /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45643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Anchor revenue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1"/>
            <a:ext cx="10881360" cy="493776"/>
          </a:xfrm>
          <a:prstGeom prst="roundRect">
            <a:avLst>
              <a:gd name="adj" fmla="val 7000"/>
            </a:avLst>
          </a:prstGeom>
          <a:solidFill>
            <a:srgbClr val="0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23359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2F4F8"/>
                </a:solidFill>
                <a:latin typeface="Segoe UI"/>
              </a:rPr>
              <a:t>Coach SaaS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023359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00E676"/>
                </a:solidFill>
                <a:latin typeface="Segoe UI"/>
              </a:rPr>
              <a:t>₹500–2k / seat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02335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9AA3B5"/>
                </a:solidFill>
                <a:latin typeface="Segoe UI"/>
              </a:rPr>
              <a:t>Margin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93207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2F4F8"/>
                </a:solidFill>
                <a:latin typeface="Segoe UI"/>
              </a:rPr>
              <a:t>The LTV argument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50407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A child acquired at 7 through a ₹2,500 starter kit generates an estimated ₹1.5–3 lakh lifetime value by 17 — gear as they grow, programs every term, camps every summer. One acquisition, a decade of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5-year revenue path (indicative plan)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828800"/>
          <a:ext cx="69494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82880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57984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Mumbai beachhead
5k orders · ₹1.2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907791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236975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5 cities · 100 schools
₹6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986783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315968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3 cities deep
₹18 Cr · SaaS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065776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00E676"/>
                </a:solidFill>
                <a:latin typeface="Segoe UI"/>
              </a:rPr>
              <a:t>Yr 4–5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39496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9AA3B5"/>
                </a:solidFill>
                <a:latin typeface="Segoe UI"/>
              </a:rPr>
              <a:t>National expansion
₹42 → 85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68C"/>
                </a:solidFill>
                <a:latin typeface="Segoe UI"/>
              </a:rPr>
              <a:t>Working plan, not a promise — every assumption is open for diligence.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Growth loops, not paid-media dependence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93976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00E676"/>
                </a:solidFill>
                <a:latin typeface="Segoe UI"/>
              </a:rPr>
              <a:t>Phase 1 · Mumbai beachhead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39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D2C launch + 3 academy partnerships + 2 school contracts. Target: ₹1.2 Cr GMV, 5,000 families in 12 months.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93976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6A3D"/>
                </a:solidFill>
                <a:latin typeface="Segoe UI"/>
              </a:rPr>
              <a:t>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39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Explorer quiz (SEO magnet) → starter bundle → programs → parent communities → school referrals back to retail.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7880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00E676"/>
                </a:solidFill>
                <a:latin typeface="Segoe UI"/>
              </a:rPr>
              <a:t>Content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90872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In-house AI film pipeline: studio-grade safety guides, drills and stories at near-zero content cost. Marketing advantage competitors can't match.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7880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6A3D"/>
                </a:solidFill>
                <a:latin typeface="Segoe UI"/>
              </a:rPr>
              <a:t>B2B wedge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90872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9AA3B5"/>
                </a:solidFill>
                <a:latin typeface="Segoe UI"/>
              </a:rPr>
              <a:t>Schools buy bundles for safety documentation &amp; compliance; we train their coaches and own the relationship.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TECHNOLOGY &amp; DATA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Every sale teaches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00E676"/>
                </a:solidFill>
                <a:latin typeface="Segoe UI"/>
              </a:rPr>
              <a:t>Fit-data compounding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Every exchange tells us a child grew 4cm. In 3 years: India's best youth-sizing dataset.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F6A3D"/>
                </a:solidFill>
                <a:latin typeface="Segoe UI"/>
              </a:rPr>
              <a:t>Consent-based 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32887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Progress records families return for. Data stays behind parental consent — by architecture.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00E676"/>
                </a:solidFill>
                <a:latin typeface="Segoe UI"/>
              </a:rPr>
              <a:t>Coach SaaS lock-in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Academies run rosters, attendance and inventory on our stack — switching is costly.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59352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6052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FF6A3D"/>
                </a:solidFill>
                <a:latin typeface="Segoe UI"/>
              </a:rPr>
              <a:t>AI content at software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Canon-controlled studio pipeline ships broadcast-quality video weekly. Others pay agencies.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00E676"/>
                </a:solidFill>
                <a:latin typeface="Segoe U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2F4F8"/>
                </a:solidFill>
                <a:latin typeface="Segoe UI"/>
              </a:rPr>
              <a:t>₹3.5 Cr seed — 18-month runway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822960" cy="41148"/>
          </a:xfrm>
          <a:prstGeom prst="rect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 i="0">
                <a:solidFill>
                  <a:srgbClr val="6B768C"/>
                </a:solidFill>
                <a:latin typeface="Segoe UI"/>
              </a:rPr>
              <a:t>NextPlay Kids · Investor Brief · Sep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0604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6816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₹3.5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78608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seed 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65176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95681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78608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inventory &amp; infra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265176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95681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00E676"/>
                </a:solidFill>
                <a:latin typeface="Segoe UI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578608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technology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828800"/>
            <a:ext cx="2423160" cy="1170432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956816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6A3D"/>
                </a:solidFill>
                <a:latin typeface="Segoe UI"/>
              </a:rPr>
              <a:t>35%+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578608"/>
            <a:ext cx="2423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6B768C"/>
                </a:solidFill>
                <a:latin typeface="Segoe UI"/>
              </a:rPr>
              <a:t>repeat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83280"/>
            <a:ext cx="548640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18-month milestones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₹1.2 Cr GMV · 5,000 families · 3 academies + 2 schools signed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Repeat-purchase 35%+ · SaaS pilot with 10 academies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50" b="1">
                <a:solidFill>
                  <a:srgbClr val="F2F4F8"/>
                </a:solidFill>
                <a:latin typeface="Segoe UI"/>
              </a:rPr>
              <a:t>▸ Structure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9AA3B5"/>
                </a:solidFill>
                <a:latin typeface="Segoe UI"/>
              </a:rPr>
              <a:t>SAFE / CCPS · founder-led · governance-ready reporting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383280"/>
            <a:ext cx="5029200" cy="2377440"/>
          </a:xfrm>
          <a:prstGeom prst="roundRect">
            <a:avLst>
              <a:gd name="adj" fmla="val 7000"/>
            </a:avLst>
          </a:prstGeom>
          <a:solidFill>
            <a:srgbClr val="101B33"/>
          </a:solidFill>
          <a:ln w="12700">
            <a:solidFill>
              <a:srgbClr val="273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35844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B45A"/>
                </a:solidFill>
                <a:latin typeface="Segoe UI"/>
              </a:rPr>
              <a:t>What you 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04164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Early entry into the trust layer of a ₹40,000 Cr+ market — with a founder who has managed 9-figure P&amp;Ls, security-audits his own stack, and ships working product in weeks.
Diligence pack ready: live prototype, unit-economics model, safety policy, backup &amp; audit trails.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ojo-cl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41648"/>
            <a:ext cx="12191695" cy="28163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041648"/>
            <a:ext cx="12191695" cy="457200"/>
          </a:xfrm>
          <a:prstGeom prst="rect">
            <a:avLst/>
          </a:prstGeom>
          <a:solidFill>
            <a:srgbClr val="0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4400" b="1" i="0">
                <a:solidFill>
                  <a:srgbClr val="F2F4F8"/>
                </a:solidFill>
                <a:latin typeface="Segoe UI"/>
              </a:rPr>
              <a:t>Every child deserves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4400" b="1" i="0">
                <a:solidFill>
                  <a:srgbClr val="00E676"/>
                </a:solidFill>
                <a:latin typeface="Segoe UI"/>
              </a:rPr>
              <a:t>a place to play.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F2F4F8"/>
                </a:solidFill>
                <a:latin typeface="Segoe UI"/>
              </a:rPr>
              <a:t>Mahesh Koria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9AA3B5"/>
                </a:solidFill>
                <a:latin typeface="Segoe UI"/>
              </a:rPr>
              <a:t>Founder · NextPlay Kids — 19+ years banking &amp; data leadership, AI architecture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F6A3D"/>
                </a:solidFill>
                <a:latin typeface="Segoe UI"/>
              </a:rPr>
              <a:t>Let's build India's most trusted youth-sport company —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68C"/>
                </a:solidFill>
                <a:latin typeface="Segoe UI"/>
              </a:rPr>
              <a:t>NextPlay Kids · Investor Brief · September 2026 · Mumbai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